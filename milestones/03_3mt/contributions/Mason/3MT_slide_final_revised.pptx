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40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pec.edmcouncil.org/fibo/" TargetMode="External"/><Relationship Id="rId2" Type="http://schemas.openxmlformats.org/officeDocument/2006/relationships/hyperlink" Target="https://github.com/Pyrex111/CSC501_Data_Modeling_Project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eur-ws.org/Vol-2050/FOMI_paper_1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877824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1F4E79"/>
                </a:solidFill>
                <a:latin typeface="IBM Plex Sans"/>
              </a:rPr>
              <a:t>Extending the Financial Industry Business Ontology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1F4E79"/>
                </a:solidFill>
                <a:latin typeface="IBM Plex Sans"/>
              </a:rPr>
              <a:t>to Represent Time-Varying Exchange-Traded Fund Allocations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55480" y="292608"/>
            <a:ext cx="2176272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222222"/>
                </a:solidFill>
                <a:latin typeface="IBM Plex Sans"/>
              </a:rPr>
              <a:t>3-MINUTE TALK</a:t>
            </a:r>
          </a:p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222222"/>
                </a:solidFill>
                <a:latin typeface="IBM Plex Sans"/>
              </a:rPr>
              <a:t>October 15,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>
                <a:solidFill>
                  <a:srgbClr val="3A3F46"/>
                </a:solidFill>
                <a:latin typeface="IBM Plex Sans"/>
              </a:rPr>
              <a:t>Taimoor · Mason · Shahmeer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8412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222222"/>
                </a:solidFill>
                <a:latin typeface="IBM Plex Sans"/>
              </a:rPr>
              <a:t>Project repository: </a:t>
            </a:r>
            <a:r>
              <a:rPr sz="1000" b="0" i="0" u="sng">
                <a:solidFill>
                  <a:srgbClr val="1F4E79"/>
                </a:solidFill>
                <a:latin typeface="IBM Plex Sans"/>
                <a:hlinkClick r:id="rId2"/>
              </a:rPr>
              <a:t>https://github.com/Pyrex111/CSC501_Data_Modeling_Project/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737360"/>
            <a:ext cx="11274552" cy="0"/>
          </a:xfrm>
          <a:prstGeom prst="line">
            <a:avLst/>
          </a:prstGeom>
          <a:ln w="9525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810512"/>
            <a:ext cx="11274552" cy="6583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91605" y="1940766"/>
            <a:ext cx="7043835" cy="4539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 dirty="0">
                <a:solidFill>
                  <a:srgbClr val="1F4E79"/>
                </a:solidFill>
                <a:latin typeface="IBM Plex Sans"/>
              </a:rPr>
              <a:t>FIBO </a:t>
            </a:r>
            <a:r>
              <a:rPr sz="900" b="0" i="0" u="sng" dirty="0">
                <a:solidFill>
                  <a:srgbClr val="1F4E79"/>
                </a:solidFill>
                <a:latin typeface="IBM Plex Sans"/>
                <a:hlinkClick r:id="rId3"/>
              </a:rPr>
              <a:t>[2]</a:t>
            </a:r>
            <a:r>
              <a:rPr sz="900" b="0" i="0" dirty="0">
                <a:solidFill>
                  <a:srgbClr val="222222"/>
                </a:solidFill>
                <a:latin typeface="IBM Plex Sans"/>
              </a:rPr>
              <a:t>— fund types, policies, weighted structures and date semantics; reused cautiously, separating policy from disclosure observation.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 dirty="0">
                <a:solidFill>
                  <a:srgbClr val="1F4E79"/>
                </a:solidFill>
                <a:latin typeface="IBM Plex Sans"/>
              </a:rPr>
              <a:t>GFRO </a:t>
            </a:r>
            <a:r>
              <a:rPr sz="900" b="0" i="0" u="sng" dirty="0">
                <a:solidFill>
                  <a:srgbClr val="1F4E79"/>
                </a:solidFill>
                <a:latin typeface="IBM Plex Sans"/>
                <a:hlinkClick r:id="rId4"/>
              </a:rPr>
              <a:t>[1]</a:t>
            </a:r>
            <a:r>
              <a:rPr sz="900" b="0" i="0" dirty="0">
                <a:solidFill>
                  <a:srgbClr val="222222"/>
                </a:solidFill>
                <a:latin typeface="IBM Plex Sans"/>
              </a:rPr>
              <a:t>— point-in-time graphs; overlap acknowledged, our disclosure integration made explicit.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87752"/>
            <a:ext cx="11274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IBM Plex Sans"/>
              </a:rPr>
              <a:t>An allocation percentage needs its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27248"/>
            <a:ext cx="2578608" cy="96012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AE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IBM Plex Sans"/>
              </a:rPr>
              <a:t>ETF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IBM Plex Sans"/>
              </a:rPr>
              <a:t>Investment fund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3127248"/>
            <a:ext cx="2578608" cy="960120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 w="12700">
            <a:solidFill>
              <a:srgbClr val="AE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BM Plex Sans"/>
              </a:rPr>
              <a:t>Dated disclosure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IBM Plex Sans"/>
              </a:rPr>
              <a:t>As-of date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IBM Plex Sans"/>
              </a:rPr>
              <a:t>Sector or geography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3127248"/>
            <a:ext cx="2578608" cy="96012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AE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IBM Plex Sans"/>
              </a:rPr>
              <a:t>Allocation entry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IBM Plex Sans"/>
              </a:rPr>
              <a:t>Reported percentage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53144" y="3127248"/>
            <a:ext cx="2578608" cy="96012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AE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IBM Plex Sans"/>
              </a:rPr>
              <a:t>Category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IBM Plex Sans"/>
              </a:rPr>
              <a:t>e.g. Technology, Canada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35808" y="3607308"/>
            <a:ext cx="320040" cy="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18588" y="290779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A6B7A"/>
                </a:solidFill>
                <a:latin typeface="IBM Plex Sans"/>
              </a:rPr>
              <a:t>has disclosure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34456" y="3607308"/>
            <a:ext cx="320040" cy="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17236" y="290779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A6B7A"/>
                </a:solidFill>
                <a:latin typeface="IBM Plex Sans"/>
              </a:rPr>
              <a:t>contains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33104" y="3607308"/>
            <a:ext cx="320040" cy="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15884" y="290779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A6B7A"/>
                </a:solidFill>
                <a:latin typeface="IBM Plex Sans"/>
              </a:rPr>
              <a:t>uses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5848" y="4590288"/>
            <a:ext cx="2578608" cy="96012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AE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 dirty="0">
                <a:solidFill>
                  <a:srgbClr val="1F4E79"/>
                </a:solidFill>
                <a:latin typeface="IBM Plex Sans"/>
              </a:rPr>
              <a:t>Source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 dirty="0">
                <a:solidFill>
                  <a:srgbClr val="5A6B7A"/>
                </a:solidFill>
                <a:latin typeface="IBM Plex Sans"/>
              </a:rPr>
              <a:t>Captured provider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 dirty="0">
                <a:solidFill>
                  <a:srgbClr val="5A6B7A"/>
                </a:solidFill>
                <a:latin typeface="IBM Plex Sans"/>
              </a:rPr>
              <a:t>factsheet or webpage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3144" y="4590288"/>
            <a:ext cx="2578608" cy="96012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AE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IBM Plex Sans"/>
              </a:rPr>
              <a:t>Classification context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IBM Plex Sans"/>
              </a:rPr>
              <a:t>Scheme/version, if stated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IBM Plex Sans"/>
              </a:rPr>
              <a:t>Provider context if unstated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4645152" y="4087368"/>
            <a:ext cx="0" cy="50292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442448" y="4087368"/>
            <a:ext cx="0" cy="50292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36592" y="4206240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B7A"/>
                </a:solidFill>
                <a:latin typeface="IBM Plex Sans"/>
              </a:rPr>
              <a:t>supports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4206240"/>
            <a:ext cx="1234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B7A"/>
                </a:solidFill>
                <a:latin typeface="IBM Plex Sans"/>
              </a:rPr>
              <a:t>gives meaning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32704"/>
            <a:ext cx="112745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dirty="0">
                <a:solidFill>
                  <a:srgbClr val="6B7682"/>
                </a:solidFill>
                <a:latin typeface="IBM Plex Sans"/>
              </a:rPr>
              <a:t>FIGURE 1 · Simplified view of the proposed data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70448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 dirty="0">
                <a:solidFill>
                  <a:srgbClr val="1F4E79"/>
                </a:solidFill>
                <a:latin typeface="IBM Plex Sans"/>
              </a:rPr>
              <a:t>Keep the fund, date, category meaning, and evidence together.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6217920"/>
            <a:ext cx="11274552" cy="0"/>
          </a:xfrm>
          <a:prstGeom prst="line">
            <a:avLst/>
          </a:prstGeom>
          <a:ln w="9525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6254496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333333"/>
                </a:solidFill>
                <a:latin typeface="IBM Plex Sans"/>
              </a:rPr>
              <a:t>[1] Oliver Browne, Nenad Krdzavac, Philip O’Reilly, and Mark Hutchinson. 2017. Semantic Ontologies and Financial Reporting: An Application of the FIBO. In Proceedings of FOMI 2017 (CEUR Workshop Proceedings, Vol. 2050). </a:t>
            </a:r>
            <a:r>
              <a:rPr sz="750" b="0" i="0" u="sng">
                <a:solidFill>
                  <a:srgbClr val="1F4E79"/>
                </a:solidFill>
                <a:latin typeface="IBM Plex Sans"/>
                <a:hlinkClick r:id="rId4"/>
              </a:rPr>
              <a:t>https://ceur-ws.org/Vol-2050/FOMI_paper_1.pdf</a:t>
            </a:r>
            <a:r>
              <a:rPr sz="750" b="0" i="0">
                <a:solidFill>
                  <a:srgbClr val="333333"/>
                </a:solidFill>
                <a:latin typeface="IBM Plex Sans"/>
              </a:rPr>
              <a:t>  [2] EDMCouncil. 2026. Financial Industry Business Ontology. </a:t>
            </a:r>
            <a:r>
              <a:rPr sz="750" b="0" i="0" u="sng">
                <a:solidFill>
                  <a:srgbClr val="1F4E79"/>
                </a:solidFill>
                <a:latin typeface="IBM Plex Sans"/>
                <a:hlinkClick r:id="rId3"/>
              </a:rPr>
              <a:t>https://spec.edmcouncil.org/fibo/</a:t>
            </a:r>
            <a:r>
              <a:rPr sz="750" b="0" i="0">
                <a:solidFill>
                  <a:srgbClr val="333333"/>
                </a:solidFill>
                <a:latin typeface="IBM Plex Sans"/>
              </a:rPr>
              <a:t> Selected modules at the pinned 1 October 2026 revision; commit, definitions and module URLs in supporting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259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IBM Plex Sans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孟宸 李</cp:lastModifiedBy>
  <cp:revision>2</cp:revision>
  <dcterms:created xsi:type="dcterms:W3CDTF">2013-01-27T09:14:16Z</dcterms:created>
  <dcterms:modified xsi:type="dcterms:W3CDTF">2026-10-14T05:16:43Z</dcterms:modified>
  <cp:category/>
</cp:coreProperties>
</file>