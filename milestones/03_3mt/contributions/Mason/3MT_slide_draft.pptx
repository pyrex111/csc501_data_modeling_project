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402" y="5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spec.edmcouncil.org/fibo/" TargetMode="External"/><Relationship Id="rId5" Type="http://schemas.openxmlformats.org/officeDocument/2006/relationships/hyperlink" Target="https://ceur-ws.org/Vol-2050/FOMI_paper_1.pdf" TargetMode="External"/><Relationship Id="rId4" Type="http://schemas.openxmlformats.org/officeDocument/2006/relationships/hyperlink" Target="https://github.com/Pyrex111/CSC501_Data_Modeling_Projec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34EA066E-4BA2-3635-1B17-ECC8A138E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" y="-1245553"/>
            <a:ext cx="12198587" cy="8103553"/>
          </a:xfrm>
          <a:prstGeom prst="rect">
            <a:avLst/>
          </a:prstGeom>
        </p:spPr>
      </p:pic>
      <p:sp>
        <p:nvSpPr>
          <p:cNvPr id="2" name="Title"/>
          <p:cNvSpPr txBox="1"/>
          <p:nvPr/>
        </p:nvSpPr>
        <p:spPr>
          <a:xfrm>
            <a:off x="609600" y="450000"/>
            <a:ext cx="9050000" cy="5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marL="0" indent="0" algn="l">
              <a:defRPr/>
            </a:pPr>
            <a:r>
              <a:rPr lang="en-CA" sz="1700" b="1" dirty="0">
                <a:solidFill>
                  <a:srgbClr val="1F4E79"/>
                </a:solidFill>
                <a:latin typeface="IBM Plex Sans"/>
                <a:ea typeface="IBM Plex Sans"/>
                <a:cs typeface="IBM Plex Sans"/>
              </a:rPr>
              <a:t>Extending the Financial Industry Business Ontology</a:t>
            </a:r>
          </a:p>
          <a:p>
            <a:pPr marL="0" indent="0" algn="l">
              <a:defRPr/>
            </a:pPr>
            <a:r>
              <a:rPr lang="en-CA" sz="1700" b="1" dirty="0">
                <a:solidFill>
                  <a:srgbClr val="1F4E79"/>
                </a:solidFill>
                <a:latin typeface="IBM Plex Sans"/>
                <a:ea typeface="IBM Plex Sans"/>
                <a:cs typeface="IBM Plex Sans"/>
              </a:rPr>
              <a:t>to Represent Time-Varying Exchange-Traded Fund Allocations</a:t>
            </a:r>
          </a:p>
        </p:txBody>
      </p:sp>
      <p:sp>
        <p:nvSpPr>
          <p:cNvPr id="3" name="AutoShape 3"/>
          <p:cNvSpPr txBox="1"/>
          <p:nvPr/>
        </p:nvSpPr>
        <p:spPr>
          <a:xfrm>
            <a:off x="609600" y="10400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E4852"/>
                </a:solidFill>
                <a:latin typeface="IBM Plex Sans"/>
                <a:ea typeface="IBM Plex Sans"/>
                <a:cs typeface="IBM Plex Sans"/>
                <a:sym typeface="IBM Plex Sans"/>
              </a:rPr>
              <a:t>Taimoor · Mason · Shahmeer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609600" y="1258000"/>
            <a:ext cx="889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 dirty="0">
                <a:solidFill>
                  <a:schemeClr val="tx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 repository: </a:t>
            </a:r>
            <a:r>
              <a:rPr lang="en-US" sz="900" b="0" i="0" u="none" strike="noStrike" dirty="0">
                <a:solidFill>
                  <a:schemeClr val="tx1"/>
                </a:solidFill>
                <a:latin typeface="IBM Plex Sans"/>
                <a:ea typeface="IBM Plex Sans"/>
                <a:cs typeface="IBM Plex Sans"/>
                <a:sym typeface="IBM Plex Sans"/>
                <a:hlinkClick r:id="rId4" tooltip="https://github.com/Pyrex111/CSC501_Data_Modeling_Projec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github.com/Pyrex111/CSC501_Data_Modeling_Project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9652000" y="508000"/>
            <a:ext cx="193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chemeClr val="tx1"/>
                </a:solidFill>
                <a:latin typeface="IBM Plex Sans"/>
                <a:ea typeface="IBM Plex Sans"/>
                <a:cs typeface="IBM Plex Sans"/>
                <a:sym typeface="IBM Plex Sans"/>
              </a:rPr>
              <a:t>3-MINUTE TALK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9652000" y="787400"/>
            <a:ext cx="193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chemeClr val="tx1"/>
                </a:solidFill>
                <a:latin typeface="IBM Plex Sans"/>
                <a:ea typeface="IBM Plex Sans"/>
                <a:cs typeface="IBM Plex Sans"/>
                <a:sym typeface="IBM Plex Sans"/>
              </a:rPr>
              <a:t>October 15, 2026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7" name="Connector 7"/>
          <p:cNvCxnSpPr/>
          <p:nvPr/>
        </p:nvCxnSpPr>
        <p:spPr>
          <a:xfrm rot="-3978">
            <a:off x="609604" y="1492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6D0C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FlowHead"/>
          <p:cNvSpPr txBox="1"/>
          <p:nvPr/>
        </p:nvSpPr>
        <p:spPr>
          <a:xfrm>
            <a:off x="5300000" y="1575000"/>
            <a:ext cx="6800000" cy="3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defRPr/>
            </a:pPr>
            <a:r>
              <a:rPr lang="en-CA" sz="1400" b="1" dirty="0">
                <a:solidFill>
                  <a:srgbClr val="1F4E79"/>
                </a:solidFill>
                <a:latin typeface="IBM Plex Sans"/>
                <a:ea typeface="IBM Plex Sans"/>
                <a:cs typeface="IBM Plex Sans"/>
              </a:rPr>
              <a:t>An allocation percentage needs its context</a:t>
            </a:r>
          </a:p>
        </p:txBody>
      </p:sp>
      <p:sp>
        <p:nvSpPr>
          <p:cNvPr id="32" name="FlowBox"/>
          <p:cNvSpPr/>
          <p:nvPr/>
        </p:nvSpPr>
        <p:spPr>
          <a:xfrm>
            <a:off x="5300000" y="2120000"/>
            <a:ext cx="1500000" cy="700000"/>
          </a:xfrm>
          <a:prstGeom prst="roundRect">
            <a:avLst>
              <a:gd name="adj" fmla="val 11000"/>
            </a:avLst>
          </a:prstGeom>
          <a:solidFill>
            <a:srgbClr val="EAF0F6"/>
          </a:solidFill>
          <a:ln w="12700">
            <a:solidFill>
              <a:srgbClr val="AEC4D6"/>
            </a:solidFill>
            <a:prstDash val="solid"/>
          </a:ln>
        </p:spPr>
        <p:txBody>
          <a:bodyPr vert="horz" wrap="square" lIns="50000" tIns="20000" rIns="50000" bIns="200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CA" sz="1100" b="1" dirty="0">
                <a:solidFill>
                  <a:srgbClr val="1F4E79"/>
                </a:solidFill>
                <a:latin typeface="IBM Plex Sans"/>
                <a:ea typeface="IBM Plex Sans"/>
                <a:cs typeface="IBM Plex Sans"/>
              </a:rPr>
              <a:t>ETF</a:t>
            </a:r>
          </a:p>
          <a:p>
            <a:pPr marL="0" indent="0" algn="ctr">
              <a:lnSpc>
                <a:spcPct val="100000"/>
              </a:lnSpc>
              <a:spcBef>
                <a:spcPts val="20"/>
              </a:spcBef>
              <a:defRPr/>
            </a:pPr>
            <a:r>
              <a:rPr lang="en-CA" sz="900" b="0" dirty="0">
                <a:solidFill>
                  <a:srgbClr val="5A6B7A"/>
                </a:solidFill>
                <a:latin typeface="IBM Plex Sans"/>
                <a:ea typeface="IBM Plex Sans"/>
                <a:cs typeface="IBM Plex Sans"/>
              </a:rPr>
              <a:t>Investment fund</a:t>
            </a:r>
          </a:p>
        </p:txBody>
      </p:sp>
      <p:sp>
        <p:nvSpPr>
          <p:cNvPr id="33" name="FlowBox"/>
          <p:cNvSpPr/>
          <p:nvPr/>
        </p:nvSpPr>
        <p:spPr>
          <a:xfrm>
            <a:off x="7066000" y="2120000"/>
            <a:ext cx="1500000" cy="700000"/>
          </a:xfrm>
          <a:prstGeom prst="roundRect">
            <a:avLst>
              <a:gd name="adj" fmla="val 11000"/>
            </a:avLst>
          </a:prstGeom>
          <a:solidFill>
            <a:srgbClr val="1F4E79"/>
          </a:solidFill>
          <a:ln w="12700">
            <a:solidFill>
              <a:srgbClr val="AEC4D6"/>
            </a:solidFill>
            <a:prstDash val="solid"/>
          </a:ln>
        </p:spPr>
        <p:txBody>
          <a:bodyPr vert="horz" wrap="square" lIns="50000" tIns="20000" rIns="50000" bIns="200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CA" sz="1000" b="1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Dated disclosure</a:t>
            </a:r>
          </a:p>
          <a:p>
            <a:pPr marL="0" indent="0" algn="ctr">
              <a:lnSpc>
                <a:spcPct val="100000"/>
              </a:lnSpc>
              <a:spcBef>
                <a:spcPts val="20"/>
              </a:spcBef>
              <a:defRPr/>
            </a:pPr>
            <a:r>
              <a:rPr lang="en-CA" sz="900" b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As-of date</a:t>
            </a:r>
          </a:p>
          <a:p>
            <a:pPr marL="0" indent="0" algn="ctr">
              <a:lnSpc>
                <a:spcPct val="100000"/>
              </a:lnSpc>
              <a:spcBef>
                <a:spcPts val="20"/>
              </a:spcBef>
              <a:defRPr/>
            </a:pPr>
            <a:r>
              <a:rPr lang="en-CA" sz="900" b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Sector or geography</a:t>
            </a:r>
          </a:p>
        </p:txBody>
      </p:sp>
      <p:sp>
        <p:nvSpPr>
          <p:cNvPr id="34" name="FlowBox"/>
          <p:cNvSpPr/>
          <p:nvPr/>
        </p:nvSpPr>
        <p:spPr>
          <a:xfrm>
            <a:off x="8832000" y="2120000"/>
            <a:ext cx="1500000" cy="700000"/>
          </a:xfrm>
          <a:prstGeom prst="roundRect">
            <a:avLst>
              <a:gd name="adj" fmla="val 11000"/>
            </a:avLst>
          </a:prstGeom>
          <a:solidFill>
            <a:srgbClr val="EAF0F6"/>
          </a:solidFill>
          <a:ln w="12700">
            <a:solidFill>
              <a:srgbClr val="AEC4D6"/>
            </a:solidFill>
            <a:prstDash val="solid"/>
          </a:ln>
        </p:spPr>
        <p:txBody>
          <a:bodyPr vert="horz" wrap="square" lIns="50000" tIns="20000" rIns="50000" bIns="200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CA" sz="1000" b="1" dirty="0">
                <a:solidFill>
                  <a:srgbClr val="1F4E79"/>
                </a:solidFill>
                <a:latin typeface="IBM Plex Sans"/>
                <a:ea typeface="IBM Plex Sans"/>
                <a:cs typeface="IBM Plex Sans"/>
              </a:rPr>
              <a:t>Allocation entry</a:t>
            </a:r>
          </a:p>
          <a:p>
            <a:pPr marL="0" indent="0" algn="ctr">
              <a:lnSpc>
                <a:spcPct val="100000"/>
              </a:lnSpc>
              <a:spcBef>
                <a:spcPts val="20"/>
              </a:spcBef>
              <a:defRPr/>
            </a:pPr>
            <a:r>
              <a:rPr lang="en-CA" sz="900" b="0" dirty="0">
                <a:solidFill>
                  <a:srgbClr val="5A6B7A"/>
                </a:solidFill>
                <a:latin typeface="IBM Plex Sans"/>
                <a:ea typeface="IBM Plex Sans"/>
                <a:cs typeface="IBM Plex Sans"/>
              </a:rPr>
              <a:t>Reported percentage</a:t>
            </a:r>
          </a:p>
        </p:txBody>
      </p:sp>
      <p:sp>
        <p:nvSpPr>
          <p:cNvPr id="35" name="FlowBox"/>
          <p:cNvSpPr/>
          <p:nvPr/>
        </p:nvSpPr>
        <p:spPr>
          <a:xfrm>
            <a:off x="10598000" y="2120000"/>
            <a:ext cx="1500000" cy="700000"/>
          </a:xfrm>
          <a:prstGeom prst="roundRect">
            <a:avLst>
              <a:gd name="adj" fmla="val 11000"/>
            </a:avLst>
          </a:prstGeom>
          <a:solidFill>
            <a:srgbClr val="EAF0F6"/>
          </a:solidFill>
          <a:ln w="12700">
            <a:solidFill>
              <a:srgbClr val="AEC4D6"/>
            </a:solidFill>
            <a:prstDash val="solid"/>
          </a:ln>
        </p:spPr>
        <p:txBody>
          <a:bodyPr vert="horz" wrap="square" lIns="50000" tIns="20000" rIns="50000" bIns="200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CA" sz="1100" b="1" dirty="0">
                <a:solidFill>
                  <a:srgbClr val="1F4E79"/>
                </a:solidFill>
                <a:latin typeface="IBM Plex Sans"/>
                <a:ea typeface="IBM Plex Sans"/>
                <a:cs typeface="IBM Plex Sans"/>
              </a:rPr>
              <a:t>Category</a:t>
            </a:r>
          </a:p>
          <a:p>
            <a:pPr marL="0" indent="0" algn="ctr">
              <a:lnSpc>
                <a:spcPct val="100000"/>
              </a:lnSpc>
              <a:spcBef>
                <a:spcPts val="20"/>
              </a:spcBef>
              <a:defRPr/>
            </a:pPr>
            <a:r>
              <a:rPr lang="en-CA" sz="900" b="0" dirty="0">
                <a:solidFill>
                  <a:srgbClr val="5A6B7A"/>
                </a:solidFill>
                <a:latin typeface="IBM Plex Sans"/>
                <a:ea typeface="IBM Plex Sans"/>
                <a:cs typeface="IBM Plex Sans"/>
              </a:rPr>
              <a:t>e.g. Technology, Canada</a:t>
            </a:r>
          </a:p>
        </p:txBody>
      </p:sp>
      <p:sp>
        <p:nvSpPr>
          <p:cNvPr id="36" name="FlowBox"/>
          <p:cNvSpPr/>
          <p:nvPr/>
        </p:nvSpPr>
        <p:spPr>
          <a:xfrm>
            <a:off x="7066000" y="3270000"/>
            <a:ext cx="1500000" cy="700000"/>
          </a:xfrm>
          <a:prstGeom prst="roundRect">
            <a:avLst>
              <a:gd name="adj" fmla="val 11000"/>
            </a:avLst>
          </a:prstGeom>
          <a:solidFill>
            <a:srgbClr val="EAF0F6"/>
          </a:solidFill>
          <a:ln w="12700">
            <a:solidFill>
              <a:srgbClr val="AEC4D6"/>
            </a:solidFill>
            <a:prstDash val="solid"/>
          </a:ln>
        </p:spPr>
        <p:txBody>
          <a:bodyPr vert="horz" wrap="square" lIns="50000" tIns="20000" rIns="50000" bIns="200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CA" sz="1100" b="1" dirty="0">
                <a:solidFill>
                  <a:srgbClr val="1F4E79"/>
                </a:solidFill>
                <a:latin typeface="IBM Plex Sans"/>
                <a:ea typeface="IBM Plex Sans"/>
                <a:cs typeface="IBM Plex Sans"/>
              </a:rPr>
              <a:t>Source</a:t>
            </a:r>
          </a:p>
          <a:p>
            <a:pPr marL="0" indent="0" algn="ctr">
              <a:lnSpc>
                <a:spcPct val="100000"/>
              </a:lnSpc>
              <a:spcBef>
                <a:spcPts val="20"/>
              </a:spcBef>
              <a:defRPr/>
            </a:pPr>
            <a:r>
              <a:rPr lang="en-CA" sz="900" b="0" dirty="0">
                <a:solidFill>
                  <a:srgbClr val="5A6B7A"/>
                </a:solidFill>
                <a:latin typeface="IBM Plex Sans"/>
                <a:ea typeface="IBM Plex Sans"/>
                <a:cs typeface="IBM Plex Sans"/>
              </a:rPr>
              <a:t>Captured provider</a:t>
            </a:r>
          </a:p>
          <a:p>
            <a:pPr marL="0" indent="0" algn="ctr">
              <a:lnSpc>
                <a:spcPct val="100000"/>
              </a:lnSpc>
              <a:spcBef>
                <a:spcPts val="20"/>
              </a:spcBef>
              <a:defRPr/>
            </a:pPr>
            <a:r>
              <a:rPr lang="en-CA" sz="900" b="0" dirty="0">
                <a:solidFill>
                  <a:srgbClr val="5A6B7A"/>
                </a:solidFill>
                <a:latin typeface="IBM Plex Sans"/>
                <a:ea typeface="IBM Plex Sans"/>
                <a:cs typeface="IBM Plex Sans"/>
              </a:rPr>
              <a:t>factsheet or webpage</a:t>
            </a:r>
          </a:p>
        </p:txBody>
      </p:sp>
      <p:sp>
        <p:nvSpPr>
          <p:cNvPr id="37" name="FlowBox"/>
          <p:cNvSpPr/>
          <p:nvPr/>
        </p:nvSpPr>
        <p:spPr>
          <a:xfrm>
            <a:off x="10598000" y="3270000"/>
            <a:ext cx="1500000" cy="700000"/>
          </a:xfrm>
          <a:prstGeom prst="roundRect">
            <a:avLst>
              <a:gd name="adj" fmla="val 11000"/>
            </a:avLst>
          </a:prstGeom>
          <a:solidFill>
            <a:srgbClr val="EAF0F6"/>
          </a:solidFill>
          <a:ln w="12700">
            <a:solidFill>
              <a:srgbClr val="AEC4D6"/>
            </a:solidFill>
            <a:prstDash val="solid"/>
          </a:ln>
        </p:spPr>
        <p:txBody>
          <a:bodyPr vert="horz" wrap="square" lIns="50000" tIns="20000" rIns="50000" bIns="200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CA" sz="950" b="1" dirty="0">
                <a:solidFill>
                  <a:srgbClr val="1F4E79"/>
                </a:solidFill>
                <a:latin typeface="IBM Plex Sans"/>
                <a:ea typeface="IBM Plex Sans"/>
                <a:cs typeface="IBM Plex Sans"/>
              </a:rPr>
              <a:t>Classification context</a:t>
            </a:r>
          </a:p>
          <a:p>
            <a:pPr marL="0" indent="0" algn="ctr">
              <a:lnSpc>
                <a:spcPct val="100000"/>
              </a:lnSpc>
              <a:spcBef>
                <a:spcPts val="20"/>
              </a:spcBef>
              <a:defRPr/>
            </a:pPr>
            <a:r>
              <a:rPr lang="en-CA" sz="900" b="0" dirty="0">
                <a:solidFill>
                  <a:srgbClr val="5A6B7A"/>
                </a:solidFill>
                <a:latin typeface="IBM Plex Sans"/>
                <a:ea typeface="IBM Plex Sans"/>
                <a:cs typeface="IBM Plex Sans"/>
              </a:rPr>
              <a:t>Scheme/version, if stated</a:t>
            </a:r>
          </a:p>
          <a:p>
            <a:pPr marL="0" indent="0" algn="ctr">
              <a:lnSpc>
                <a:spcPct val="100000"/>
              </a:lnSpc>
              <a:spcBef>
                <a:spcPts val="20"/>
              </a:spcBef>
              <a:defRPr/>
            </a:pPr>
            <a:r>
              <a:rPr lang="en-CA" sz="900" b="0" dirty="0">
                <a:solidFill>
                  <a:srgbClr val="5A6B7A"/>
                </a:solidFill>
                <a:latin typeface="IBM Plex Sans"/>
                <a:ea typeface="IBM Plex Sans"/>
                <a:cs typeface="IBM Plex Sans"/>
              </a:rPr>
              <a:t>Provider context if unstated</a:t>
            </a:r>
          </a:p>
        </p:txBody>
      </p:sp>
      <p:cxnSp>
        <p:nvCxnSpPr>
          <p:cNvPr id="38" name="FlowArrow"/>
          <p:cNvCxnSpPr/>
          <p:nvPr/>
        </p:nvCxnSpPr>
        <p:spPr>
          <a:xfrm>
            <a:off x="6800000" y="2470000"/>
            <a:ext cx="266000" cy="0"/>
          </a:xfrm>
          <a:prstGeom prst="straightConnector1">
            <a:avLst/>
          </a:prstGeom>
          <a:ln w="15875">
            <a:solidFill>
              <a:srgbClr val="1F4E79"/>
            </a:solidFill>
            <a:round/>
            <a:headEnd type="none"/>
            <a:tailEnd type="triangle" w="med" len="med"/>
          </a:ln>
        </p:spPr>
      </p:cxnSp>
      <p:cxnSp>
        <p:nvCxnSpPr>
          <p:cNvPr id="39" name="FlowArrow"/>
          <p:cNvCxnSpPr/>
          <p:nvPr/>
        </p:nvCxnSpPr>
        <p:spPr>
          <a:xfrm>
            <a:off x="8566000" y="2470000"/>
            <a:ext cx="266000" cy="0"/>
          </a:xfrm>
          <a:prstGeom prst="straightConnector1">
            <a:avLst/>
          </a:prstGeom>
          <a:ln w="15875">
            <a:solidFill>
              <a:srgbClr val="1F4E79"/>
            </a:solidFill>
            <a:round/>
            <a:headEnd type="none"/>
            <a:tailEnd type="triangle" w="med" len="med"/>
          </a:ln>
        </p:spPr>
      </p:cxnSp>
      <p:cxnSp>
        <p:nvCxnSpPr>
          <p:cNvPr id="40" name="FlowArrow"/>
          <p:cNvCxnSpPr/>
          <p:nvPr/>
        </p:nvCxnSpPr>
        <p:spPr>
          <a:xfrm>
            <a:off x="10332000" y="2470000"/>
            <a:ext cx="266000" cy="0"/>
          </a:xfrm>
          <a:prstGeom prst="straightConnector1">
            <a:avLst/>
          </a:prstGeom>
          <a:ln w="15875">
            <a:solidFill>
              <a:srgbClr val="1F4E79"/>
            </a:solidFill>
            <a:round/>
            <a:headEnd type="none"/>
            <a:tailEnd type="triangle" w="med" len="med"/>
          </a:ln>
        </p:spPr>
      </p:cxnSp>
      <p:sp>
        <p:nvSpPr>
          <p:cNvPr id="41" name="FlowLabel"/>
          <p:cNvSpPr txBox="1"/>
          <p:nvPr/>
        </p:nvSpPr>
        <p:spPr>
          <a:xfrm>
            <a:off x="6453000" y="1900000"/>
            <a:ext cx="960000" cy="1700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/>
          <a:lstStyle/>
          <a:p>
            <a:pPr marL="0" indent="0" algn="ctr">
              <a:defRPr/>
            </a:pPr>
            <a:r>
              <a:rPr lang="en-CA" sz="850" b="0" dirty="0">
                <a:solidFill>
                  <a:srgbClr val="5A6B7A"/>
                </a:solidFill>
                <a:latin typeface="IBM Plex Sans"/>
                <a:ea typeface="IBM Plex Sans"/>
                <a:cs typeface="IBM Plex Sans"/>
              </a:rPr>
              <a:t>has disclosure</a:t>
            </a:r>
          </a:p>
        </p:txBody>
      </p:sp>
      <p:sp>
        <p:nvSpPr>
          <p:cNvPr id="42" name="FlowLabel"/>
          <p:cNvSpPr txBox="1"/>
          <p:nvPr/>
        </p:nvSpPr>
        <p:spPr>
          <a:xfrm>
            <a:off x="8219000" y="1900000"/>
            <a:ext cx="960000" cy="1700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/>
          <a:lstStyle/>
          <a:p>
            <a:pPr marL="0" indent="0" algn="ctr">
              <a:defRPr/>
            </a:pPr>
            <a:r>
              <a:rPr lang="en-CA" sz="850" b="0" dirty="0">
                <a:solidFill>
                  <a:srgbClr val="5A6B7A"/>
                </a:solidFill>
                <a:latin typeface="IBM Plex Sans"/>
                <a:ea typeface="IBM Plex Sans"/>
                <a:cs typeface="IBM Plex Sans"/>
              </a:rPr>
              <a:t>contains</a:t>
            </a:r>
          </a:p>
        </p:txBody>
      </p:sp>
      <p:sp>
        <p:nvSpPr>
          <p:cNvPr id="43" name="FlowLabel"/>
          <p:cNvSpPr txBox="1"/>
          <p:nvPr/>
        </p:nvSpPr>
        <p:spPr>
          <a:xfrm>
            <a:off x="9985000" y="1900000"/>
            <a:ext cx="960000" cy="1700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/>
          <a:lstStyle/>
          <a:p>
            <a:pPr marL="0" indent="0" algn="ctr">
              <a:defRPr/>
            </a:pPr>
            <a:r>
              <a:rPr lang="en-CA" sz="850" b="0" dirty="0">
                <a:solidFill>
                  <a:srgbClr val="5A6B7A"/>
                </a:solidFill>
                <a:latin typeface="IBM Plex Sans"/>
                <a:ea typeface="IBM Plex Sans"/>
                <a:cs typeface="IBM Plex Sans"/>
              </a:rPr>
              <a:t>uses</a:t>
            </a:r>
          </a:p>
        </p:txBody>
      </p:sp>
      <p:cxnSp>
        <p:nvCxnSpPr>
          <p:cNvPr id="44" name="FlowArrow"/>
          <p:cNvCxnSpPr/>
          <p:nvPr/>
        </p:nvCxnSpPr>
        <p:spPr>
          <a:xfrm>
            <a:off x="7816000" y="2820000"/>
            <a:ext cx="0" cy="450000"/>
          </a:xfrm>
          <a:prstGeom prst="straightConnector1">
            <a:avLst/>
          </a:prstGeom>
          <a:ln w="15875">
            <a:solidFill>
              <a:srgbClr val="1F4E79"/>
            </a:solidFill>
            <a:round/>
            <a:headEnd type="triangle" w="med" len="med"/>
            <a:tailEnd type="none"/>
          </a:ln>
        </p:spPr>
      </p:cxnSp>
      <p:cxnSp>
        <p:nvCxnSpPr>
          <p:cNvPr id="45" name="FlowArrow"/>
          <p:cNvCxnSpPr/>
          <p:nvPr/>
        </p:nvCxnSpPr>
        <p:spPr>
          <a:xfrm>
            <a:off x="11348000" y="2820000"/>
            <a:ext cx="0" cy="450000"/>
          </a:xfrm>
          <a:prstGeom prst="straightConnector1">
            <a:avLst/>
          </a:prstGeom>
          <a:ln w="15875">
            <a:solidFill>
              <a:srgbClr val="1F4E79"/>
            </a:solidFill>
            <a:round/>
            <a:headEnd type="triangle" w="med" len="med"/>
            <a:tailEnd type="none"/>
          </a:ln>
        </p:spPr>
      </p:cxnSp>
      <p:sp>
        <p:nvSpPr>
          <p:cNvPr id="46" name="FlowLabel"/>
          <p:cNvSpPr txBox="1"/>
          <p:nvPr/>
        </p:nvSpPr>
        <p:spPr>
          <a:xfrm>
            <a:off x="7856000" y="2960000"/>
            <a:ext cx="850000" cy="1700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/>
          <a:lstStyle/>
          <a:p>
            <a:pPr marL="0" indent="0" algn="l">
              <a:defRPr/>
            </a:pPr>
            <a:r>
              <a:rPr lang="en-CA" sz="850" b="0" dirty="0">
                <a:solidFill>
                  <a:srgbClr val="5A6B7A"/>
                </a:solidFill>
                <a:latin typeface="IBM Plex Sans"/>
                <a:ea typeface="IBM Plex Sans"/>
                <a:cs typeface="IBM Plex Sans"/>
              </a:rPr>
              <a:t>supports</a:t>
            </a:r>
          </a:p>
        </p:txBody>
      </p:sp>
      <p:sp>
        <p:nvSpPr>
          <p:cNvPr id="47" name="FlowLabel"/>
          <p:cNvSpPr txBox="1"/>
          <p:nvPr/>
        </p:nvSpPr>
        <p:spPr>
          <a:xfrm>
            <a:off x="10448000" y="2960000"/>
            <a:ext cx="860000" cy="1700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/>
          <a:lstStyle/>
          <a:p>
            <a:pPr marL="0" indent="0" algn="r">
              <a:defRPr/>
            </a:pPr>
            <a:r>
              <a:rPr lang="en-CA" sz="850" b="0" dirty="0">
                <a:solidFill>
                  <a:srgbClr val="5A6B7A"/>
                </a:solidFill>
                <a:latin typeface="IBM Plex Sans"/>
                <a:ea typeface="IBM Plex Sans"/>
                <a:cs typeface="IBM Plex Sans"/>
              </a:rPr>
              <a:t>gives meaning</a:t>
            </a:r>
          </a:p>
        </p:txBody>
      </p:sp>
      <p:sp>
        <p:nvSpPr>
          <p:cNvPr id="16" name="AutoShape 16"/>
          <p:cNvSpPr txBox="1"/>
          <p:nvPr/>
        </p:nvSpPr>
        <p:spPr>
          <a:xfrm>
            <a:off x="-1" y="4897006"/>
            <a:ext cx="12169373" cy="7550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CA" sz="900" dirty="0"/>
              <a:t>TABLE 1: Comparison of representations and implications for the ERD.                                                       </a:t>
            </a:r>
            <a:r>
              <a:rPr lang="en-US" sz="900" b="0" i="0" u="none" strike="noStrike" dirty="0">
                <a:solidFill>
                  <a:schemeClr val="tx1"/>
                </a:solidFill>
                <a:latin typeface="IBM Plex Sans"/>
                <a:ea typeface="IBM Plex Sans"/>
                <a:cs typeface="IBM Plex Sans"/>
                <a:sym typeface="IBM Plex Sans"/>
              </a:rPr>
              <a:t>FIGURE 1 · Simplified view of the proposed data model</a:t>
            </a:r>
            <a:r>
              <a:rPr lang="en-US" sz="900" b="0" i="0" u="none" strike="noStrike" dirty="0">
                <a:solidFill>
                  <a:srgbClr val="8C8474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lang="en-US" sz="1100" dirty="0"/>
          </a:p>
        </p:txBody>
      </p:sp>
      <p:cxnSp>
        <p:nvCxnSpPr>
          <p:cNvPr id="19" name="Connector 19"/>
          <p:cNvCxnSpPr/>
          <p:nvPr/>
        </p:nvCxnSpPr>
        <p:spPr>
          <a:xfrm rot="-3978">
            <a:off x="609604" y="6381751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6D0C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 txBox="1"/>
          <p:nvPr/>
        </p:nvSpPr>
        <p:spPr>
          <a:xfrm>
            <a:off x="6386214" y="3902388"/>
            <a:ext cx="4359572" cy="13446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16666"/>
              </a:lnSpc>
              <a:defRPr/>
            </a:pPr>
            <a:r>
              <a:rPr lang="en-US" sz="1200" b="1" i="0" u="none" strike="noStrike" dirty="0">
                <a:solidFill>
                  <a:schemeClr val="tx1"/>
                </a:solidFill>
                <a:latin typeface="IBM Plex Sans"/>
                <a:ea typeface="IBM Plex Sans"/>
                <a:cs typeface="IBM Plex Sans"/>
                <a:sym typeface="IBM Plex Sans"/>
              </a:rPr>
              <a:t>Keep the fund, date, category meaning, and evidence together</a:t>
            </a:r>
          </a:p>
          <a:p>
            <a:pPr marL="0" indent="0" algn="just">
              <a:lnSpc>
                <a:spcPct val="116666"/>
              </a:lnSpc>
              <a:defRPr/>
            </a:pPr>
            <a:r>
              <a:rPr lang="en-US" sz="1200" b="1" dirty="0">
                <a:solidFill>
                  <a:schemeClr val="tx1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</a:p>
          <a:p>
            <a:pPr marL="0" indent="0" algn="just">
              <a:lnSpc>
                <a:spcPct val="116666"/>
              </a:lnSpc>
              <a:defRPr/>
            </a:pPr>
            <a:r>
              <a:rPr lang="en-US" sz="1200" b="1" dirty="0">
                <a:solidFill>
                  <a:schemeClr val="tx1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1200" b="1" i="0" u="none" strike="noStrike" dirty="0">
                <a:solidFill>
                  <a:schemeClr val="tx1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very “30% Technology” becomes a trustworthy fact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1" name="AutoShape 21"/>
          <p:cNvSpPr txBox="1"/>
          <p:nvPr/>
        </p:nvSpPr>
        <p:spPr>
          <a:xfrm>
            <a:off x="609600" y="6451600"/>
            <a:ext cx="109728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CA" sz="800" dirty="0"/>
              <a:t>[1] Oliver Browne, Nenad Krdzavac, Philip O’Reilly, and Mark Hutchinson. 2017. Semantic Ontologies and Financial Reporting: An Application of the FIBO. In Proceedings of FOMI 2017 (CEUR Workshop Proceedings, Vol. 2050). </a:t>
            </a:r>
            <a:r>
              <a:rPr lang="en-CA" sz="800" u="sng" dirty="0">
                <a:solidFill>
                  <a:srgbClr val="1F4E79"/>
                </a:solidFill>
                <a:hlinkClick r:id="rId5" tooltip="https://ceur-ws.org/Vol-2050/FOMI_paper_1.pdf"/>
              </a:rPr>
              <a:t>https://ceur-ws.org/Vol-2050/FOMI_paper_1.pdf</a:t>
            </a:r>
            <a:r>
              <a:rPr lang="en-CA" sz="800" dirty="0"/>
              <a:t> [2] EDMCouncil. 2026. Financial Industry Business Ontology. </a:t>
            </a:r>
            <a:r>
              <a:rPr lang="en-CA" sz="800" u="sng" dirty="0">
                <a:solidFill>
                  <a:srgbClr val="1F4E79"/>
                </a:solidFill>
                <a:hlinkClick r:id="rId6" tooltip="https://spec.edmcouncil.org/fibo/"/>
              </a:rPr>
              <a:t>https://spec.edmcouncil.org/fibo/</a:t>
            </a:r>
            <a:r>
              <a:rPr lang="en-CA" sz="800" dirty="0"/>
              <a:t> Selected modules at the pinned 1 October 2026 revision; commit, definitions and module URLs in supporting notes.</a:t>
            </a:r>
            <a:endParaRPr 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9561CE2B-4FAC-7EB2-1581-ABBA4C33D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109218"/>
              </p:ext>
            </p:extLst>
          </p:nvPr>
        </p:nvGraphicFramePr>
        <p:xfrm>
          <a:off x="0" y="1511583"/>
          <a:ext cx="5201856" cy="338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952">
                  <a:extLst>
                    <a:ext uri="{9D8B030D-6E8A-4147-A177-3AD203B41FA5}">
                      <a16:colId xmlns:a16="http://schemas.microsoft.com/office/drawing/2014/main" val="3268683115"/>
                    </a:ext>
                  </a:extLst>
                </a:gridCol>
                <a:gridCol w="1733952">
                  <a:extLst>
                    <a:ext uri="{9D8B030D-6E8A-4147-A177-3AD203B41FA5}">
                      <a16:colId xmlns:a16="http://schemas.microsoft.com/office/drawing/2014/main" val="71486818"/>
                    </a:ext>
                  </a:extLst>
                </a:gridCol>
                <a:gridCol w="1733952">
                  <a:extLst>
                    <a:ext uri="{9D8B030D-6E8A-4147-A177-3AD203B41FA5}">
                      <a16:colId xmlns:a16="http://schemas.microsoft.com/office/drawing/2014/main" val="3310170759"/>
                    </a:ext>
                  </a:extLst>
                </a:gridCol>
              </a:tblGrid>
              <a:tr h="759347">
                <a:tc>
                  <a:txBody>
                    <a:bodyPr/>
                    <a:lstStyle/>
                    <a:p>
                      <a:r>
                        <a:rPr lang="en-CA" dirty="0"/>
                        <a:t>Representation</a:t>
                      </a:r>
                      <a:endParaRPr lang="en-CA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76453B"/>
                      </a:solidFill>
                      <a:prstDash val="solid"/>
                    </a:lnL>
                    <a:lnR w="12700" cmpd="sng">
                      <a:solidFill>
                        <a:srgbClr val="76453B"/>
                      </a:solidFill>
                      <a:prstDash val="solid"/>
                    </a:lnR>
                    <a:lnT w="12700" cmpd="sng">
                      <a:solidFill>
                        <a:srgbClr val="76453B"/>
                      </a:solidFill>
                      <a:prstDash val="solid"/>
                    </a:lnT>
                    <a:lnB w="38100" cmpd="sng">
                      <a:solidFill>
                        <a:srgbClr val="76453B"/>
                      </a:solidFill>
                      <a:prstDash val="solid"/>
                    </a:lnB>
                    <a:solidFill>
                      <a:srgbClr val="7645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Structure and strengths </a:t>
                      </a:r>
                      <a:endParaRPr lang="en-CA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76453B"/>
                      </a:solidFill>
                      <a:prstDash val="solid"/>
                    </a:lnL>
                    <a:lnR w="12700" cmpd="sng">
                      <a:solidFill>
                        <a:srgbClr val="76453B"/>
                      </a:solidFill>
                      <a:prstDash val="solid"/>
                    </a:lnR>
                    <a:lnT w="12700" cmpd="sng">
                      <a:solidFill>
                        <a:srgbClr val="76453B"/>
                      </a:solidFill>
                      <a:prstDash val="solid"/>
                    </a:lnT>
                    <a:lnB w="38100" cmpd="sng">
                      <a:solidFill>
                        <a:srgbClr val="76453B"/>
                      </a:solidFill>
                      <a:prstDash val="solid"/>
                    </a:lnB>
                    <a:solidFill>
                      <a:srgbClr val="7645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Limitation and design response</a:t>
                      </a:r>
                      <a:endParaRPr lang="en-CA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76453B"/>
                      </a:solidFill>
                      <a:prstDash val="solid"/>
                    </a:lnL>
                    <a:lnR w="12700" cmpd="sng">
                      <a:solidFill>
                        <a:srgbClr val="76453B"/>
                      </a:solidFill>
                      <a:prstDash val="solid"/>
                    </a:lnR>
                    <a:lnT w="12700" cmpd="sng">
                      <a:solidFill>
                        <a:srgbClr val="76453B"/>
                      </a:solidFill>
                      <a:prstDash val="solid"/>
                    </a:lnT>
                    <a:lnB w="38100" cmpd="sng">
                      <a:solidFill>
                        <a:srgbClr val="76453B"/>
                      </a:solidFill>
                      <a:prstDash val="solid"/>
                    </a:lnB>
                    <a:solidFill>
                      <a:srgbClr val="764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795708"/>
                  </a:ext>
                </a:extLst>
              </a:tr>
              <a:tr h="1423777">
                <a:tc>
                  <a:txBody>
                    <a:bodyPr/>
                    <a:lstStyle/>
                    <a:p>
                      <a:r>
                        <a:rPr lang="en-CA" dirty="0"/>
                        <a:t>FIBO </a:t>
                      </a:r>
                      <a:r>
                        <a:rPr lang="en-CA" u="sng" dirty="0">
                          <a:solidFill>
                            <a:srgbClr val="1F4E79"/>
                          </a:solidFill>
                          <a:hlinkClick r:id="rId6" tooltip="https://spec.edmcouncil.org/fibo/"/>
                        </a:rPr>
                        <a:t>[2]</a:t>
                      </a:r>
                      <a:endParaRPr lang="en-CA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76453B"/>
                      </a:solidFill>
                      <a:prstDash val="solid"/>
                    </a:lnL>
                    <a:lnR w="12700" cmpd="sng">
                      <a:solidFill>
                        <a:srgbClr val="76453B"/>
                      </a:solidFill>
                      <a:prstDash val="solid"/>
                    </a:lnR>
                    <a:lnT w="38100" cmpd="sng">
                      <a:solidFill>
                        <a:srgbClr val="76453B"/>
                      </a:solidFill>
                      <a:prstDash val="solid"/>
                    </a:lnT>
                    <a:lnB w="12700" cmpd="sng">
                      <a:solidFill>
                        <a:srgbClr val="76453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Fund types, policies, weighted structures and date semantics</a:t>
                      </a:r>
                      <a:endParaRPr lang="en-CA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76453B"/>
                      </a:solidFill>
                      <a:prstDash val="solid"/>
                    </a:lnL>
                    <a:lnR w="12700" cmpd="sng">
                      <a:solidFill>
                        <a:srgbClr val="76453B"/>
                      </a:solidFill>
                      <a:prstDash val="solid"/>
                    </a:lnR>
                    <a:lnT w="38100" cmpd="sng">
                      <a:solidFill>
                        <a:srgbClr val="76453B"/>
                      </a:solidFill>
                      <a:prstDash val="solid"/>
                    </a:lnT>
                    <a:lnB w="12700" cmpd="sng">
                      <a:solidFill>
                        <a:srgbClr val="76453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Reuse cautiously; distinguish policy from disclosure observation</a:t>
                      </a:r>
                      <a:endParaRPr lang="en-CA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76453B"/>
                      </a:solidFill>
                      <a:prstDash val="solid"/>
                    </a:lnL>
                    <a:lnR w="12700" cmpd="sng">
                      <a:solidFill>
                        <a:srgbClr val="76453B"/>
                      </a:solidFill>
                      <a:prstDash val="solid"/>
                    </a:lnR>
                    <a:lnT w="38100" cmpd="sng">
                      <a:solidFill>
                        <a:srgbClr val="76453B"/>
                      </a:solidFill>
                      <a:prstDash val="solid"/>
                    </a:lnT>
                    <a:lnB w="12700" cmpd="sng">
                      <a:solidFill>
                        <a:srgbClr val="76453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575368"/>
                  </a:ext>
                </a:extLst>
              </a:tr>
              <a:tr h="1202300">
                <a:tc>
                  <a:txBody>
                    <a:bodyPr/>
                    <a:lstStyle/>
                    <a:p>
                      <a:r>
                        <a:rPr lang="en-CA" dirty="0"/>
                        <a:t>GFRO </a:t>
                      </a:r>
                      <a:r>
                        <a:rPr lang="en-CA" u="sng" dirty="0">
                          <a:solidFill>
                            <a:srgbClr val="1F4E79"/>
                          </a:solidFill>
                          <a:hlinkClick r:id="rId5" tooltip="https://ceur-ws.org/Vol-2050/FOMI_paper_1.pdf"/>
                        </a:rPr>
                        <a:t>[1]</a:t>
                      </a:r>
                      <a:endParaRPr lang="en-CA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76453B"/>
                      </a:solidFill>
                      <a:prstDash val="solid"/>
                    </a:lnL>
                    <a:lnR w="12700" cmpd="sng">
                      <a:solidFill>
                        <a:srgbClr val="76453B"/>
                      </a:solidFill>
                      <a:prstDash val="solid"/>
                    </a:lnR>
                    <a:lnT w="12700" cmpd="sng">
                      <a:solidFill>
                        <a:srgbClr val="76453B"/>
                      </a:solidFill>
                      <a:prstDash val="solid"/>
                    </a:lnT>
                    <a:lnB w="12700" cmpd="sng">
                      <a:solidFill>
                        <a:srgbClr val="76453B"/>
                      </a:solidFill>
                      <a:prstDash val="solid"/>
                    </a:lnB>
                    <a:solidFill>
                      <a:srgbClr val="EAD8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Point-in-time graphs</a:t>
                      </a:r>
                      <a:endParaRPr lang="en-CA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76453B"/>
                      </a:solidFill>
                      <a:prstDash val="solid"/>
                    </a:lnL>
                    <a:lnR w="12700" cmpd="sng">
                      <a:solidFill>
                        <a:srgbClr val="76453B"/>
                      </a:solidFill>
                      <a:prstDash val="solid"/>
                    </a:lnR>
                    <a:lnT w="12700" cmpd="sng">
                      <a:solidFill>
                        <a:srgbClr val="76453B"/>
                      </a:solidFill>
                      <a:prstDash val="solid"/>
                    </a:lnT>
                    <a:lnB w="12700" cmpd="sng">
                      <a:solidFill>
                        <a:srgbClr val="76453B"/>
                      </a:solidFill>
                      <a:prstDash val="solid"/>
                    </a:lnB>
                    <a:solidFill>
                      <a:srgbClr val="EAD8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Acknowledge overlap; make our disclosure integration explicit</a:t>
                      </a:r>
                      <a:endParaRPr lang="en-CA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76453B"/>
                      </a:solidFill>
                      <a:prstDash val="solid"/>
                    </a:lnL>
                    <a:lnR w="12700" cmpd="sng">
                      <a:solidFill>
                        <a:srgbClr val="76453B"/>
                      </a:solidFill>
                      <a:prstDash val="solid"/>
                    </a:lnR>
                    <a:lnT w="12700" cmpd="sng">
                      <a:solidFill>
                        <a:srgbClr val="76453B"/>
                      </a:solidFill>
                      <a:prstDash val="solid"/>
                    </a:lnT>
                    <a:lnB w="12700" cmpd="sng">
                      <a:solidFill>
                        <a:srgbClr val="76453B"/>
                      </a:solidFill>
                      <a:prstDash val="solid"/>
                    </a:lnB>
                    <a:solidFill>
                      <a:srgbClr val="EAD8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736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285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IBM Plex Sans</vt:lpstr>
      <vt:lpstr>Office 主题​​</vt:lpstr>
      <vt:lpstr>默认主题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lmc</dc:creator>
  <cp:lastModifiedBy>孟宸 李</cp:lastModifiedBy>
  <cp:revision>4</cp:revision>
  <dcterms:modified xsi:type="dcterms:W3CDTF">2026-10-13T23:28:10Z</dcterms:modified>
</cp:coreProperties>
</file>